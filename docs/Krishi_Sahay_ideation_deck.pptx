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/>
              <a:t>Water saved per acre vs baseline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Scheduling only</c:v>
                </c:pt>
              </c:strCache>
            </c:strRef>
          </c:tx>
          <c:spPr>
            <a:solidFill>
              <a:srgbClr val="0891B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Cotton</c:v>
                </c:pt>
                <c:pt idx="1">
                  <c:v>Tomato</c:v>
                </c:pt>
                <c:pt idx="2">
                  <c:v>Onion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35</c:v>
                </c:pt>
                <c:pt idx="2">
                  <c:v>-20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Scheduling + drip</c:v>
                </c:pt>
              </c:strCache>
            </c:strRef>
          </c:tx>
          <c:spPr>
            <a:solidFill>
              <a:srgbClr val="16A34A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Cotton</c:v>
                </c:pt>
                <c:pt idx="1">
                  <c:v>Tomato</c:v>
                </c:pt>
                <c:pt idx="2">
                  <c:v>Onion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</c:v>
                </c:pt>
                <c:pt idx="1">
                  <c:v>57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one sentence: we connect the crop, its water and power, the climate it will actually face, and the buyer, for one farmer's own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Statistics are secondary compilations; the write-up lists the sources. Do not overstate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 are from the working prototype (demo farmer, Kandi, Sangareddy; buyers and prices are synthetic demo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column says what the farmer gets, how it is computed and how it is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full-size diagram is docs/architecture_ppt.png (3840x2160). Replace this picture with it if you want more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 which numbers are assumptions. The honest framing is a strength with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'Typical tools' is a generalisation drawn from the tools reviewed in the write-up (crop recommenders, Kisan e-Mitra-style chatbots, mandi apps). Soften it if challenged on a specific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reports/impact_report.md, generated by scripts/run_impact.py. The post-harvest figure is the most that matched buyers could protect, not a measured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what is not costed. Unit economics are hypotheses until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reports/impact_report.md sections 3 and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Ideation round: show direction. The prototype round delivers items in the second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 the team names, roles and add photos here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109728" cy="2011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801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Krishi Sahay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5156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D1FAE5"/>
                </a:solidFill>
                <a:latin typeface="Calibri"/>
              </a:rPr>
              <a:t>Plan the crop to the water, schedule the water and power, sell what you grow.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Challenge: Sustainable Agriculture: Energy, Water &amp; Productivity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A7F3D0"/>
                </a:solidFill>
                <a:latin typeface="Calibri"/>
              </a:rPr>
              <a:t>Ideation round submission  |  A voice-first decision platform for Indian smallholders, in their own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7F3D0"/>
                </a:solidFill>
                <a:latin typeface="Calibri"/>
              </a:rPr>
              <a:t>Team: [Team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Farm power and water are large and unmanaged, and crop choice ignores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18488"/>
            <a:ext cx="64008" cy="31638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Water and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3383280" cy="2788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Farm use is roughly 19–23% of India's electricity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Groundwater supplies about 48% of irrigation water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About 22 million electric pumps (2021)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Irrigation timing is mostly habit: fixed-date flood watering ignores rain and soil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50876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618488"/>
            <a:ext cx="64008" cy="3163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60020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Crop and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039112"/>
            <a:ext cx="3383280" cy="2788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Recommenders rank by soil match or this year's rain: a dry spell or flood later in the season is invisible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Costs and prices swing, so a 'best crop' can lose money in a bad year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Power often comes at night; daytime supply is a stated promise, not a given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50876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618488"/>
            <a:ext cx="64008" cy="316382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5" y="160020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Waste and 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5" y="2039112"/>
            <a:ext cx="3383280" cy="2788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Post-harvest losses are 15–20% of produce value (challenge brief)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Farmers plant what paid last year; everyone does, the glut is wasted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Advice that needs English typing misses most smallholders; chatbots answer questions but do not build a plan from the farmer's land, water and buyers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92256" cy="1143000"/>
          </a:xfrm>
          <a:prstGeom prst="roundRect">
            <a:avLst>
              <a:gd name="adj" fmla="val 6000"/>
            </a:avLst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07899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Nobody connects the crop, its water and power, the climate it will face, and the buyer, for one farmer's own land.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7F3D0"/>
                </a:solidFill>
                <a:latin typeface="Calibri"/>
              </a:rPr>
              <a:t>Shares are from secondary compilations and differ by source; sources are listed in the write-up.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PROPOSED SOLUTION, USER JOURNEY AND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User journey: from the farmer's location to a committed buyer, in their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517904" cy="15087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2" y="135331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62456"/>
            <a:ext cx="310896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35024"/>
            <a:ext cx="10789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3D2E"/>
                </a:solidFill>
                <a:latin typeface="Calibri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737360"/>
            <a:ext cx="1389888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GPS finds the farm and names the village; or search a place or type coordinates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6836" y="1280160"/>
            <a:ext cx="1517904" cy="15087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89988" y="135331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9988" y="1362456"/>
            <a:ext cx="310896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8316" y="1335024"/>
            <a:ext cx="10789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3D2E"/>
                </a:solidFill>
                <a:latin typeface="Calibri"/>
              </a:rPr>
              <a:t>Water, land, soil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9988" y="1737360"/>
            <a:ext cx="1389888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How long the well lasts, acres, and soil from a test or a satellite estimate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280160"/>
            <a:ext cx="1517904" cy="15087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03904" y="135331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1362456"/>
            <a:ext cx="310896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1335024"/>
            <a:ext cx="10789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3D2E"/>
                </a:solidFill>
                <a:latin typeface="Calibri"/>
              </a:rPr>
              <a:t>Sowing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3904" y="1737360"/>
            <a:ext cx="1389888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The farmer picks the date; all weather and risk numbers use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4668" y="1280160"/>
            <a:ext cx="1517904" cy="15087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17820" y="135331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7820" y="1362456"/>
            <a:ext cx="310896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6148" y="1335024"/>
            <a:ext cx="10789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3D2E"/>
                </a:solidFill>
                <a:latin typeface="Calibri"/>
              </a:rPr>
              <a:t>Crops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1737360"/>
            <a:ext cx="1389888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Best crops ranked by profit in a usual year and in a bad year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58583" y="1280160"/>
            <a:ext cx="1517904" cy="15087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31736" y="135331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31736" y="1362456"/>
            <a:ext cx="310896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3" y="1335024"/>
            <a:ext cx="10789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3D2E"/>
                </a:solidFill>
                <a:latin typeface="Calibri"/>
              </a:rPr>
              <a:t>Plan and My farm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6" y="1737360"/>
            <a:ext cx="1389888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Acres per crop, plus a watering schedule with energy 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72500" y="1280160"/>
            <a:ext cx="1517904" cy="15087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45652" y="135331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5652" y="1362456"/>
            <a:ext cx="310896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3980" y="1335024"/>
            <a:ext cx="10789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3D2E"/>
                </a:solidFill>
                <a:latin typeface="Calibri"/>
              </a:rPr>
              <a:t>Sell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5652" y="1737360"/>
            <a:ext cx="1389888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Buyers within 50 km with prices; commit a quantity to 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86416" y="1280160"/>
            <a:ext cx="1517904" cy="15087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59568" y="135331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59568" y="1362456"/>
            <a:ext cx="310896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97896" y="1335024"/>
            <a:ext cx="10789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3D2E"/>
                </a:solidFill>
                <a:latin typeface="Calibri"/>
              </a:rPr>
              <a:t>Ask by voice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9568" y="1737360"/>
            <a:ext cx="1389888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Ask in your own language and hear the answer as audio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2852928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Screens from the working prototype (demo farmer near Kandi, Sangareddy; demo buyers and prices)</a:t>
            </a:r>
          </a:p>
        </p:txBody>
      </p:sp>
      <p:pic>
        <p:nvPicPr>
          <p:cNvPr id="43" name="Picture 42" descr="c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54680"/>
            <a:ext cx="2286000" cy="279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502920" y="5981256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Crop list for the farm: profit in a usual and a bad year, risk level, and buyers nearby</a:t>
            </a:r>
          </a:p>
        </p:txBody>
      </p:sp>
      <p:pic>
        <p:nvPicPr>
          <p:cNvPr id="45" name="Picture 44" descr="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154680"/>
            <a:ext cx="2286000" cy="279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3474720" y="5981256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How many acres of each crop to grow, with the profit range for the whole plan</a:t>
            </a:r>
          </a:p>
        </p:txBody>
      </p:sp>
      <p:pic>
        <p:nvPicPr>
          <p:cNvPr id="47" name="Picture 46" descr="sche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154680"/>
            <a:ext cx="2286000" cy="279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48" name="TextBox 47"/>
          <p:cNvSpPr txBox="1"/>
          <p:nvPr/>
        </p:nvSpPr>
        <p:spPr>
          <a:xfrm>
            <a:off x="6446520" y="5981256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Watering schedule: dates, water depth, volume, pump hours and electricity use</a:t>
            </a:r>
          </a:p>
        </p:txBody>
      </p:sp>
      <p:pic>
        <p:nvPicPr>
          <p:cNvPr id="49" name="Picture 48" descr="s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154680"/>
            <a:ext cx="2286000" cy="279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50" name="TextBox 49"/>
          <p:cNvSpPr txBox="1"/>
          <p:nvPr/>
        </p:nvSpPr>
        <p:spPr>
          <a:xfrm>
            <a:off x="9418320" y="5981256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Sell screen: every buyer within 50 km, with crop, quantity, price and 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ALIGNMENT TO THE SELECTED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How it answers the challenge: water, energy, productivity and post-harvest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Water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25146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891B2"/>
                </a:solidFill>
                <a:latin typeface="Calibri"/>
              </a:rPr>
              <a:t>WHAT THE FARMER GETS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 day-by-day watering schedule from the sowing date, adjusted to rain and the 15-day forecast.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891B2"/>
                </a:solidFill>
                <a:latin typeface="Calibri"/>
              </a:rPr>
              <a:t>HOW IT IS WORKED OUT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 soil-water balance for each crop, using 30 years of weather at the farm (FAO-56 method).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891B2"/>
                </a:solidFill>
                <a:latin typeface="Calibri"/>
              </a:rPr>
              <a:t>HOW WE MEASURE IT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Cubic metres of water per acre, compared with flood irrigation on fixed 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44752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Energy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920240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93392"/>
            <a:ext cx="25146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WHAT THE FARMER GETS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Pump hours, electricity (kWh) and CO₂ for each crop's watering plan, and the right pump size.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HOW IT IS WORKED OUT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Water volume × pump lift ÷ pump efficiency gives kWh; kWh × the grid factor gives CO₂.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HOW WE MEASURE IT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kWh and kg of CO₂ per acre per season.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44752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20240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93392"/>
            <a:ext cx="25146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6A34A"/>
                </a:solidFill>
                <a:latin typeface="Calibri"/>
              </a:rPr>
              <a:t>WHAT THE FARMER GETS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Crops ranked by profit, including a bad year, so dry-season failures are avoided.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6A34A"/>
                </a:solidFill>
                <a:latin typeface="Calibri"/>
              </a:rPr>
              <a:t>HOW IT IS WORKED OUT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Each crop is grown virtually in the last 30 seasons at that farm, on that land's own water supply.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6A34A"/>
                </a:solidFill>
                <a:latin typeface="Calibri"/>
              </a:rPr>
              <a:t>HOW WE MEASURE IT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Relative yield and rupees of profit per acre.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1732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444752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Post-harvest loss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920240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93392"/>
            <a:ext cx="25146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B91C1C"/>
                </a:solidFill>
                <a:latin typeface="Calibri"/>
              </a:rPr>
              <a:t>WHAT THE FARMER GETS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Wholesalers' priced needs within 50 km before sowing, and a warning if neighbours plan the same crop. Less crop waste.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B91C1C"/>
                </a:solidFill>
                <a:latin typeface="Calibri"/>
              </a:rPr>
              <a:t>HOW IT IS WORKED OUT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Matching by distance (Haversine) and a planting registry that adds up nearby plans.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B91C1C"/>
                </a:solidFill>
                <a:latin typeface="Calibri"/>
              </a:rPr>
              <a:t>HOW WE MEASURE IT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Share of the harvest with a confirmed buyer (to be measured in the pilot).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15000"/>
            <a:ext cx="11192256" cy="594360"/>
          </a:xfrm>
          <a:prstGeom prst="roundRect">
            <a:avLst>
              <a:gd name="adj" fmla="val 6000"/>
            </a:avLst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733288"/>
            <a:ext cx="108813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Water → energy → money: the water a crop needs is converted into pump hours, kWh, CO₂ and rupees for that farmer.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ARCHITECTURE AND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Architecture: how data, water, energy and money flow through four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  <p:pic>
        <p:nvPicPr>
          <p:cNvPr id="7" name="Picture 6" descr="architecture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9281160" cy="52206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21240" y="1371600"/>
            <a:ext cx="1874519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How to read it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Rows run left to right: user, app screen, engine, outside data.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Blue: data. Teal: water. Amber: energy and CO₂. Green: money and price.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Today the stores are JSON files; production moves each to a database table.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No hardware is needed: soil moisture is modelled; a sensor can plug in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ARCHITECTURE AND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Technical approach: a per-farm simulation, not a district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4008" cy="138074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5257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Climate risk and irrigation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5257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Daily FAO-56 soil-water balance for every crop, for each of the last 30 seasons at that farm (ERA5 weather)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Yield loss from FAO-33; result is a median, a bad year (10th percentile) and the share of poor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72768"/>
            <a:ext cx="64008" cy="138074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5257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Profit and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93392"/>
            <a:ext cx="5257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Profit = yield × farm-gate price × (1 − loss) − cost, from a cited table (CACP, DES/NHB, Agmarknet, PIB MSP, NABCONS)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Estimated numbers are flagged, discounted and never ranked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0040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10128"/>
            <a:ext cx="64008" cy="1380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91840"/>
            <a:ext cx="5257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Water to power to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30752"/>
            <a:ext cx="5257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E = ρ g H V / (3.6·10⁶ η) gives kWh; CO₂ uses the CEA grid factor 0.727 kg/kWh (diesel 2.68 kg/L)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Pump size and payback use the farmer's own tariff and subsidy inputs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0040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310128"/>
            <a:ext cx="64008" cy="1380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91840"/>
            <a:ext cx="5257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Voice and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30752"/>
            <a:ext cx="52578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Speech to text, translate, Llama-3.3 answer with the farmer's land and plan as context, translate back, audio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Buyers within 50 km by Haversine; priced offers; two-step confirmation with a reference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83480"/>
            <a:ext cx="1119225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10881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Open data in, no paid APIs needed to start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Open-Meteo (ERA5 + forecast)  |  ISRIC SoilGrids (soil pH, organic carbon, texture)  |  Agmarknet via CEDA (mandi prices)  |  OpenStreetMap (place names)  |  Together AI (Whisper, Llama-3.3)  |  Google Translate + gTTS (pilot only)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Stated assumptions: soil water-holding by class, 60 mm per flood irrigation, 40 m pump lift at 35% efficiency. Seasonal monsoon forecasts are deliberately not used to rank crops.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IDEA QUALITY AND ORIGINALITY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Innovation: it joins what existing tools keep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9225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566160"/>
                <a:gridCol w="5705856"/>
              </a:tblGrid>
              <a:tr h="5878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Typical tools</a:t>
                      </a:r>
                    </a:p>
                  </a:txBody>
                  <a:tcPr anchor="ctr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Krishi Sahay</a:t>
                      </a:r>
                    </a:p>
                  </a:txBody>
                  <a:tcPr anchor="ctr">
                    <a:solidFill>
                      <a:srgbClr val="0B3D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Crop advice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Soil match or this year's rain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30 seasons of weather at the exact farm, from the farmer's own sowing date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Money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Average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Usual-year and bad-year profit, price floor (MSP), glut caps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Water and power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Separate or absent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Water to kWh to CO₂ to rupees, and a village roll-up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Selling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Mandi price apps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Priced buyer offers within 50 km before sowing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English text chatbots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Voice in the farmer's language, history remembered</a:t>
                      </a:r>
                    </a:p>
                  </a:txBody>
                  <a:tcPr anchor="ctr">
                    <a:solidFill>
                      <a:srgbClr val="EEF7F0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Confident single answer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Ranges, plain reasons, estimates flagged, 'ask your KVK'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760720"/>
            <a:ext cx="11192256" cy="54864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779008"/>
            <a:ext cx="108813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loop that is new: what to grow depends on what nearby buyers want and what neighbours plan to plant.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IMPACT AND MEASURABILITY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Impact: up to 57% less water per acre at equal yield, vs a stated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463040"/>
          <a:ext cx="6035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166360"/>
            <a:ext cx="6035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Negative = uses more water. Onion with scheduling alone uses 20% more water but gains +28% relative yield.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63040"/>
            <a:ext cx="4983480" cy="141732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08760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Baseline (stated)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The crop's usual number of flood irrigations on fixed dates, 60 mm each, no rain adjustment; 40 m lift, 35% pump efficiency. Yavatmal, black soil, 30 seasons of ERA5 weather.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971800"/>
            <a:ext cx="4983480" cy="141732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017520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Productivity gains, not savings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Where usual practice under-waters, the schedule spends more water for yield: wheat +7%, tur +17%, mustard +51%, chana +59% (relative yield).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480560"/>
            <a:ext cx="4983480" cy="141732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526280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Energy and waste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Cotton: about 202 kWh and 147 kg CO₂ saved per acre per season. Post-harvest loss at stake: tomato about ₹24,700 per acre (upper bound).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943600"/>
            <a:ext cx="11192256" cy="457200"/>
          </a:xfrm>
          <a:prstGeom prst="roundRect">
            <a:avLst>
              <a:gd name="adj" fmla="val 6000"/>
            </a:avLst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94360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These are simulations, not field results. The pilot replaces every assumption with a measured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FEASIBILITY AND AFFORDABILITY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Feasible and affordable: software only, open data, a basic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4008" cy="28895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What it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383280" cy="2514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 basic phone and mobile data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No hardware: soil moisture is modelled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Free weather, soil and price data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Phone + PIN login (hashed), no public farmer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46304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72768"/>
            <a:ext cx="64008" cy="28895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55448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What it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93392"/>
            <a:ext cx="3383280" cy="2514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Language model: about US$0.05 per farmer per month (30 chat turns, ~1,500 tokens each; token count is an estimate)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Translation and audio: free endpoints in the pilot; Bhashini (government, free) is the scale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46304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572768"/>
            <a:ext cx="64008" cy="2889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5" y="155448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Who pays (to test)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5" y="1993392"/>
            <a:ext cx="3383280" cy="2514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Farmers: free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Buyers and processors: demand matching and supply-coming view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Programmes (Atal Bhujal, PM-KUSUM agencies): village water and pump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54880"/>
            <a:ext cx="1119225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00600"/>
            <a:ext cx="1088136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Pilot design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60–80 smallholders in one Yavatmal cluster through an FPO, with the local KVK, 3–5 vendors and the gram panchayat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Matched groups (with and without the schedule), pump hour or flow meters, harvest weight and price received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Not yet costed: hosting, speech-to-text rate, and the field agent, the main real pilot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Sustainability: less pumping, less groundwater drawn, crops matched to the water that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4008" cy="2706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383280" cy="2331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Fewer pump hours, so less electricity or diesel per unit of crop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Pump sized to the real peak need: 3 HP drip vs 5 HP flood for 2 acres of cotton or wheat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46304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72768"/>
            <a:ext cx="64008" cy="2706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55448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93392"/>
            <a:ext cx="3383280" cy="2331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Schedule and efficient method replace calendar flooding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Village roll-up shows demand against supply before the season, where groundwater is protected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46304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572768"/>
            <a:ext cx="64008" cy="2706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5" y="155448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Emissions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5" y="1993392"/>
            <a:ext cx="3383280" cy="2331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Energy saved × CEA grid factor (0.727 kg CO₂/kWh)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Cotton, per acre per season: 77 to 308 kg CO₂ across lift and efficiency assumptions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4572000"/>
          <a:ext cx="6949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371600"/>
                <a:gridCol w="1371600"/>
                <a:gridCol w="1371600"/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Cotton, drip + schedule (kWh/acre)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Lift 30 m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Lift 40 m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Lift 60 m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Pump 25%</a:t>
                      </a:r>
                    </a:p>
                  </a:txBody>
                  <a:tcPr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423</a:t>
                      </a:r>
                    </a:p>
                  </a:txBody>
                  <a:tcPr>
                    <a:solidFill>
                      <a:srgbClr val="EEF7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Pump 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Pump 50%</a:t>
                      </a:r>
                    </a:p>
                  </a:txBody>
                  <a:tcPr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7F0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680960" y="4572000"/>
            <a:ext cx="40233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Energy scales with lift and inversely with pump efficiency, so the farmer's own pump details replace these assumptions.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Not modelled: waterlogging, heat stress, pests.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IMPLEMENTATION ROADMAP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Roadmap: ideation now, working prototype next, a measured pilot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Ideation (now)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251460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Working demo: GPS location, soil, 30-season crop ranking, My farm schedule, Sell, voice chat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30 crops, Maharashtra rows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Cited impact 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90472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Prototype round (next)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96596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029968"/>
            <a:ext cx="251460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State-specific crop rows beyond Maharashtra, from official data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Native-speaker review of Marathi, Hindi, Telugu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Test on low-end phones; Bhashini voice for all 22 languages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630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90472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Pilot (season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6596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029968"/>
            <a:ext cx="251460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60–80 farmers, one FPO, KVK, 3–5 vendors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Meters on pumps; matched groups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Replace every assumption with a measurement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630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490472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96596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029968"/>
            <a:ext cx="2514600" cy="2240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Other Maharashtra districts, then Atal Bhujal states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Open sign-up, state by state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Panchayat and FPO dashboards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1119225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10881360" cy="1783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Future scope (ideas, not built)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Soil-moisture probe and pump relay that follow the schedule (design only, advice mode first, manual override always wins)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SMS or phone-call (IVR) access for farmers without smartphones; offline-friendly pages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Vendor payment record and, later, escrow; vendor reputation from pilot data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•  A labelled machine-learning second opinion beside the simulation; seasonal-forecast inputs once skill is proven locally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TEAM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3D2E"/>
                </a:solidFill>
                <a:latin typeface="Calibri"/>
              </a:rPr>
              <a:t>Team, and what we state plainly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Krishi Sahay  |  Sustainable Agriculture: Energy, Water &amp; Productivity  |  Ideation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164592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[Name]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[Role and strength]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0876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51960" y="164592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60604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[Name]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1752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[Role and strength]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164592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60604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[Name]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01752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[Role and strength]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50876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EE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21240" y="164592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60604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[Name]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01752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[Role and strength]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49039"/>
            <a:ext cx="11192256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94760"/>
            <a:ext cx="10881360" cy="2514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Limits we state plainly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Benefit figures are simulations until the pilot measures them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Only Maharashtra has state-specific rows; vegetable costs and prices are estimates and flagged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The water model covers drought, not waterlogging or pests; soil NPK cannot be read from a map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Hindi and Marathi text is machine-translated and needs native review; GPS and low-end phones still to be tested in the field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Demo buyers and prices are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